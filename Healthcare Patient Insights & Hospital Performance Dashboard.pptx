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T Interphases" charset="1" panose="02000503020000020004"/>
      <p:regular r:id="rId14"/>
    </p:embeddedFont>
    <p:embeddedFont>
      <p:font typeface="TT Interphases Bold" charset="1" panose="02000803060000020004"/>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004B70"/>
        </a:solidFill>
      </p:bgPr>
    </p:bg>
    <p:spTree>
      <p:nvGrpSpPr>
        <p:cNvPr id="1" name=""/>
        <p:cNvGrpSpPr/>
        <p:nvPr/>
      </p:nvGrpSpPr>
      <p:grpSpPr>
        <a:xfrm>
          <a:off x="0" y="0"/>
          <a:ext cx="0" cy="0"/>
          <a:chOff x="0" y="0"/>
          <a:chExt cx="0" cy="0"/>
        </a:xfrm>
      </p:grpSpPr>
      <p:grpSp>
        <p:nvGrpSpPr>
          <p:cNvPr name="Group 2" id="2"/>
          <p:cNvGrpSpPr/>
          <p:nvPr/>
        </p:nvGrpSpPr>
        <p:grpSpPr>
          <a:xfrm rot="0">
            <a:off x="1028700" y="8526543"/>
            <a:ext cx="8324850" cy="895391"/>
            <a:chOff x="0" y="0"/>
            <a:chExt cx="11099800" cy="1193854"/>
          </a:xfrm>
        </p:grpSpPr>
        <p:sp>
          <p:nvSpPr>
            <p:cNvPr name="TextBox 3" id="3"/>
            <p:cNvSpPr txBox="true"/>
            <p:nvPr/>
          </p:nvSpPr>
          <p:spPr>
            <a:xfrm rot="0">
              <a:off x="0" y="659184"/>
              <a:ext cx="11099800" cy="534670"/>
            </a:xfrm>
            <a:prstGeom prst="rect">
              <a:avLst/>
            </a:prstGeom>
          </p:spPr>
          <p:txBody>
            <a:bodyPr anchor="t" rtlCol="false" tIns="0" lIns="0" bIns="0" rIns="0">
              <a:spAutoFit/>
            </a:bodyPr>
            <a:lstStyle/>
            <a:p>
              <a:pPr algn="l" marL="0" indent="0" lvl="0">
                <a:lnSpc>
                  <a:spcPts val="3359"/>
                </a:lnSpc>
              </a:pPr>
              <a:r>
                <a:rPr lang="en-US" sz="2400">
                  <a:solidFill>
                    <a:srgbClr val="F0F4F8"/>
                  </a:solidFill>
                  <a:latin typeface="TT Interphases"/>
                  <a:ea typeface="TT Interphases"/>
                  <a:cs typeface="TT Interphases"/>
                  <a:sym typeface="TT Interphases"/>
                </a:rPr>
                <a:t>11-03-2026</a:t>
              </a:r>
            </a:p>
          </p:txBody>
        </p:sp>
        <p:sp>
          <p:nvSpPr>
            <p:cNvPr name="TextBox 4" id="4"/>
            <p:cNvSpPr txBox="true"/>
            <p:nvPr/>
          </p:nvSpPr>
          <p:spPr>
            <a:xfrm rot="0">
              <a:off x="0" y="-19050"/>
              <a:ext cx="11099800" cy="581237"/>
            </a:xfrm>
            <a:prstGeom prst="rect">
              <a:avLst/>
            </a:prstGeom>
          </p:spPr>
          <p:txBody>
            <a:bodyPr anchor="t" rtlCol="false" tIns="0" lIns="0" bIns="0" rIns="0">
              <a:spAutoFit/>
            </a:bodyPr>
            <a:lstStyle/>
            <a:p>
              <a:pPr algn="l" marL="0" indent="0" lvl="0">
                <a:lnSpc>
                  <a:spcPts val="3640"/>
                </a:lnSpc>
              </a:pPr>
              <a:r>
                <a:rPr lang="en-US" sz="2800">
                  <a:solidFill>
                    <a:srgbClr val="F0F4F8"/>
                  </a:solidFill>
                  <a:latin typeface="TT Interphases"/>
                  <a:ea typeface="TT Interphases"/>
                  <a:cs typeface="TT Interphases"/>
                  <a:sym typeface="TT Interphases"/>
                </a:rPr>
                <a:t>Roshani Miranda</a:t>
              </a:r>
            </a:p>
          </p:txBody>
        </p:sp>
      </p:grpSp>
      <p:sp>
        <p:nvSpPr>
          <p:cNvPr name="TextBox 5" id="5"/>
          <p:cNvSpPr txBox="true"/>
          <p:nvPr/>
        </p:nvSpPr>
        <p:spPr>
          <a:xfrm rot="0">
            <a:off x="1603760" y="2571411"/>
            <a:ext cx="15380533" cy="1726069"/>
          </a:xfrm>
          <a:prstGeom prst="rect">
            <a:avLst/>
          </a:prstGeom>
        </p:spPr>
        <p:txBody>
          <a:bodyPr anchor="t" rtlCol="false" tIns="0" lIns="0" bIns="0" rIns="0">
            <a:spAutoFit/>
          </a:bodyPr>
          <a:lstStyle/>
          <a:p>
            <a:pPr algn="ctr">
              <a:lnSpc>
                <a:spcPts val="6889"/>
              </a:lnSpc>
            </a:pPr>
            <a:r>
              <a:rPr lang="en-US" sz="5299" spc="-105">
                <a:solidFill>
                  <a:srgbClr val="FFFFFF"/>
                </a:solidFill>
                <a:latin typeface="TT Interphases"/>
                <a:ea typeface="TT Interphases"/>
                <a:cs typeface="TT Interphases"/>
                <a:sym typeface="TT Interphases"/>
              </a:rPr>
              <a:t>Healthcare Patient Insights &amp; Hospital Performance</a:t>
            </a:r>
          </a:p>
          <a:p>
            <a:pPr algn="ctr">
              <a:lnSpc>
                <a:spcPts val="6889"/>
              </a:lnSpc>
              <a:spcBef>
                <a:spcPct val="0"/>
              </a:spcBef>
            </a:pPr>
            <a:r>
              <a:rPr lang="en-US" sz="5299" spc="-105">
                <a:solidFill>
                  <a:srgbClr val="FFFFFF"/>
                </a:solidFill>
                <a:latin typeface="TT Interphases"/>
                <a:ea typeface="TT Interphases"/>
                <a:cs typeface="TT Interphases"/>
                <a:sym typeface="TT Interphases"/>
              </a:rPr>
              <a:t> Dashboard</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779A2"/>
        </a:solidFill>
      </p:bgPr>
    </p:bg>
    <p:spTree>
      <p:nvGrpSpPr>
        <p:cNvPr id="1" name=""/>
        <p:cNvGrpSpPr/>
        <p:nvPr/>
      </p:nvGrpSpPr>
      <p:grpSpPr>
        <a:xfrm>
          <a:off x="0" y="0"/>
          <a:ext cx="0" cy="0"/>
          <a:chOff x="0" y="0"/>
          <a:chExt cx="0" cy="0"/>
        </a:xfrm>
      </p:grpSpPr>
      <p:sp>
        <p:nvSpPr>
          <p:cNvPr name="TextBox 2" id="2"/>
          <p:cNvSpPr txBox="true"/>
          <p:nvPr/>
        </p:nvSpPr>
        <p:spPr>
          <a:xfrm rot="0">
            <a:off x="1197118" y="971550"/>
            <a:ext cx="16062182" cy="7342069"/>
          </a:xfrm>
          <a:prstGeom prst="rect">
            <a:avLst/>
          </a:prstGeom>
        </p:spPr>
        <p:txBody>
          <a:bodyPr anchor="t" rtlCol="false" tIns="0" lIns="0" bIns="0" rIns="0">
            <a:spAutoFit/>
          </a:bodyPr>
          <a:lstStyle/>
          <a:p>
            <a:pPr algn="l">
              <a:lnSpc>
                <a:spcPts val="7280"/>
              </a:lnSpc>
            </a:pPr>
            <a:r>
              <a:rPr lang="en-US" b="true" sz="5600" spc="-112" u="sng">
                <a:solidFill>
                  <a:srgbClr val="FFFFFF"/>
                </a:solidFill>
                <a:latin typeface="TT Interphases Bold"/>
                <a:ea typeface="TT Interphases Bold"/>
                <a:cs typeface="TT Interphases Bold"/>
                <a:sym typeface="TT Interphases Bold"/>
              </a:rPr>
              <a:t>Project Overview</a:t>
            </a:r>
          </a:p>
          <a:p>
            <a:pPr algn="ctr">
              <a:lnSpc>
                <a:spcPts val="3815"/>
              </a:lnSpc>
            </a:pPr>
          </a:p>
          <a:p>
            <a:pPr algn="l" marL="777240" indent="-388620" lvl="1">
              <a:lnSpc>
                <a:spcPts val="4680"/>
              </a:lnSpc>
              <a:buFont typeface="Arial"/>
              <a:buChar char="•"/>
            </a:pPr>
            <a:r>
              <a:rPr lang="en-US" sz="3600" spc="-72">
                <a:solidFill>
                  <a:srgbClr val="FFFFFF"/>
                </a:solidFill>
                <a:latin typeface="TT Interphases"/>
                <a:ea typeface="TT Interphases"/>
                <a:cs typeface="TT Interphases"/>
                <a:sym typeface="TT Interphases"/>
              </a:rPr>
              <a:t>This project f</a:t>
            </a:r>
            <a:r>
              <a:rPr lang="en-US" sz="3600" spc="-72">
                <a:solidFill>
                  <a:srgbClr val="FFFFFF"/>
                </a:solidFill>
                <a:latin typeface="TT Interphases"/>
                <a:ea typeface="TT Interphases"/>
                <a:cs typeface="TT Interphases"/>
                <a:sym typeface="TT Interphases"/>
              </a:rPr>
              <a:t>ocuses on analyzing healthcare data to understand patient demographics, hospital performance, medical conditions, billing trends, and insurance insights.</a:t>
            </a:r>
          </a:p>
          <a:p>
            <a:pPr algn="l" marL="777240" indent="-388620" lvl="1">
              <a:lnSpc>
                <a:spcPts val="4680"/>
              </a:lnSpc>
              <a:buFont typeface="Arial"/>
              <a:buChar char="•"/>
            </a:pPr>
            <a:r>
              <a:rPr lang="en-US" sz="3600" spc="-72">
                <a:solidFill>
                  <a:srgbClr val="FFFFFF"/>
                </a:solidFill>
                <a:latin typeface="TT Interphases"/>
                <a:ea typeface="TT Interphases"/>
                <a:cs typeface="TT Interphases"/>
                <a:sym typeface="TT Interphases"/>
              </a:rPr>
              <a:t>Using Power BI, the data was cleaned, transformed, and visualized to create interactive dashboards that help analyze healthcare operations and patient trends.</a:t>
            </a:r>
          </a:p>
          <a:p>
            <a:pPr algn="l" marL="792080" indent="-396040" lvl="1">
              <a:lnSpc>
                <a:spcPts val="4769"/>
              </a:lnSpc>
              <a:buFont typeface="Arial"/>
              <a:buChar char="•"/>
            </a:pPr>
            <a:r>
              <a:rPr lang="en-US" sz="3668" spc="-73">
                <a:solidFill>
                  <a:srgbClr val="FFFFFF"/>
                </a:solidFill>
                <a:latin typeface="TT Interphases"/>
                <a:ea typeface="TT Interphases"/>
                <a:cs typeface="TT Interphases"/>
                <a:sym typeface="TT Interphases"/>
              </a:rPr>
              <a:t>The dashboard enables users to explore information about patients, hospitals, doctors, admissions, insurance providers, and medical conditions through dynamic visualizations.</a:t>
            </a:r>
          </a:p>
          <a:p>
            <a:pPr algn="l">
              <a:lnSpc>
                <a:spcPts val="476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0F4F8"/>
        </a:solidFill>
      </p:bgPr>
    </p:bg>
    <p:spTree>
      <p:nvGrpSpPr>
        <p:cNvPr id="1" name=""/>
        <p:cNvGrpSpPr/>
        <p:nvPr/>
      </p:nvGrpSpPr>
      <p:grpSpPr>
        <a:xfrm>
          <a:off x="0" y="0"/>
          <a:ext cx="0" cy="0"/>
          <a:chOff x="0" y="0"/>
          <a:chExt cx="0" cy="0"/>
        </a:xfrm>
      </p:grpSpPr>
      <p:sp>
        <p:nvSpPr>
          <p:cNvPr name="TextBox 2" id="2"/>
          <p:cNvSpPr txBox="true"/>
          <p:nvPr/>
        </p:nvSpPr>
        <p:spPr>
          <a:xfrm rot="0">
            <a:off x="1508350" y="1499568"/>
            <a:ext cx="15271301" cy="7115203"/>
          </a:xfrm>
          <a:prstGeom prst="rect">
            <a:avLst/>
          </a:prstGeom>
        </p:spPr>
        <p:txBody>
          <a:bodyPr anchor="t" rtlCol="false" tIns="0" lIns="0" bIns="0" rIns="0">
            <a:spAutoFit/>
          </a:bodyPr>
          <a:lstStyle/>
          <a:p>
            <a:pPr algn="l">
              <a:lnSpc>
                <a:spcPts val="7280"/>
              </a:lnSpc>
            </a:pPr>
            <a:r>
              <a:rPr lang="en-US" b="true" sz="5600" spc="-112" u="sng">
                <a:solidFill>
                  <a:srgbClr val="2779A2"/>
                </a:solidFill>
                <a:latin typeface="TT Interphases Bold"/>
                <a:ea typeface="TT Interphases Bold"/>
                <a:cs typeface="TT Interphases Bold"/>
                <a:sym typeface="TT Interphases Bold"/>
              </a:rPr>
              <a:t>Objectives</a:t>
            </a:r>
          </a:p>
          <a:p>
            <a:pPr algn="l">
              <a:lnSpc>
                <a:spcPts val="4414"/>
              </a:lnSpc>
            </a:pPr>
          </a:p>
          <a:p>
            <a:pPr algn="l" marL="777240" indent="-388620" lvl="1">
              <a:lnSpc>
                <a:spcPts val="4680"/>
              </a:lnSpc>
              <a:buFont typeface="Arial"/>
              <a:buChar char="•"/>
            </a:pPr>
            <a:r>
              <a:rPr lang="en-US" sz="3600" spc="-72">
                <a:solidFill>
                  <a:srgbClr val="2779A2"/>
                </a:solidFill>
                <a:latin typeface="TT Interphases"/>
                <a:ea typeface="TT Interphases"/>
                <a:cs typeface="TT Interphases"/>
                <a:sym typeface="TT Interphases"/>
              </a:rPr>
              <a:t>Analyze patient dem</a:t>
            </a:r>
            <a:r>
              <a:rPr lang="en-US" sz="3600" spc="-72">
                <a:solidFill>
                  <a:srgbClr val="2779A2"/>
                </a:solidFill>
                <a:latin typeface="TT Interphases"/>
                <a:ea typeface="TT Interphases"/>
                <a:cs typeface="TT Interphases"/>
                <a:sym typeface="TT Interphases"/>
              </a:rPr>
              <a:t>ographics such as gender, age group, and blood type.</a:t>
            </a:r>
          </a:p>
          <a:p>
            <a:pPr algn="l" marL="733120" indent="-366560" lvl="1">
              <a:lnSpc>
                <a:spcPts val="4414"/>
              </a:lnSpc>
              <a:buFont typeface="Arial"/>
              <a:buChar char="•"/>
            </a:pPr>
            <a:r>
              <a:rPr lang="en-US" sz="3395" spc="-67">
                <a:solidFill>
                  <a:srgbClr val="2779A2"/>
                </a:solidFill>
                <a:latin typeface="TT Interphases"/>
                <a:ea typeface="TT Interphases"/>
                <a:cs typeface="TT Interphases"/>
                <a:sym typeface="TT Interphases"/>
              </a:rPr>
              <a:t>Study hospital performance and doctor workload using patient counts and billing data.</a:t>
            </a:r>
          </a:p>
          <a:p>
            <a:pPr algn="l" marL="733120" indent="-366560" lvl="1">
              <a:lnSpc>
                <a:spcPts val="4414"/>
              </a:lnSpc>
              <a:buFont typeface="Arial"/>
              <a:buChar char="•"/>
            </a:pPr>
            <a:r>
              <a:rPr lang="en-US" sz="3395" spc="-67">
                <a:solidFill>
                  <a:srgbClr val="2779A2"/>
                </a:solidFill>
                <a:latin typeface="TT Interphases"/>
                <a:ea typeface="TT Interphases"/>
                <a:cs typeface="TT Interphases"/>
                <a:sym typeface="TT Interphases"/>
              </a:rPr>
              <a:t>Identify common medical conditions among patients.</a:t>
            </a:r>
          </a:p>
          <a:p>
            <a:pPr algn="l" marL="777240" indent="-388620" lvl="1">
              <a:lnSpc>
                <a:spcPts val="4680"/>
              </a:lnSpc>
              <a:buFont typeface="Arial"/>
              <a:buChar char="•"/>
            </a:pPr>
            <a:r>
              <a:rPr lang="en-US" sz="3600" spc="-72">
                <a:solidFill>
                  <a:srgbClr val="2779A2"/>
                </a:solidFill>
                <a:latin typeface="TT Interphases"/>
                <a:ea typeface="TT Interphases"/>
                <a:cs typeface="TT Interphases"/>
                <a:sym typeface="TT Interphases"/>
              </a:rPr>
              <a:t>Examine admission patterns including elective, urgent, and emergency admissions.</a:t>
            </a:r>
          </a:p>
          <a:p>
            <a:pPr algn="l" marL="733120" indent="-366560" lvl="1">
              <a:lnSpc>
                <a:spcPts val="4414"/>
              </a:lnSpc>
              <a:buFont typeface="Arial"/>
              <a:buChar char="•"/>
            </a:pPr>
            <a:r>
              <a:rPr lang="en-US" sz="3395" spc="-67">
                <a:solidFill>
                  <a:srgbClr val="2779A2"/>
                </a:solidFill>
                <a:latin typeface="TT Interphases"/>
                <a:ea typeface="TT Interphases"/>
                <a:cs typeface="TT Interphases"/>
                <a:sym typeface="TT Interphases"/>
              </a:rPr>
              <a:t>Evaluate billing trends and insurance provider contributions.</a:t>
            </a:r>
          </a:p>
          <a:p>
            <a:pPr algn="l" marL="733120" indent="-366560" lvl="1">
              <a:lnSpc>
                <a:spcPts val="4414"/>
              </a:lnSpc>
              <a:buFont typeface="Arial"/>
              <a:buChar char="•"/>
            </a:pPr>
            <a:r>
              <a:rPr lang="en-US" sz="3395" spc="-67">
                <a:solidFill>
                  <a:srgbClr val="2779A2"/>
                </a:solidFill>
                <a:latin typeface="TT Interphases"/>
                <a:ea typeface="TT Interphases"/>
                <a:cs typeface="TT Interphases"/>
                <a:sym typeface="TT Interphases"/>
              </a:rPr>
              <a:t>Build an interactive dashboard that allows filtering by hospital, admission type, insurance provider, and medical condition.</a:t>
            </a:r>
          </a:p>
          <a:p>
            <a:pPr algn="l">
              <a:lnSpc>
                <a:spcPts val="4414"/>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4B70"/>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5760601" cy="909955"/>
          </a:xfrm>
          <a:prstGeom prst="rect">
            <a:avLst/>
          </a:prstGeom>
        </p:spPr>
        <p:txBody>
          <a:bodyPr anchor="t" rtlCol="false" tIns="0" lIns="0" bIns="0" rIns="0">
            <a:spAutoFit/>
          </a:bodyPr>
          <a:lstStyle/>
          <a:p>
            <a:pPr algn="ctr">
              <a:lnSpc>
                <a:spcPts val="7280"/>
              </a:lnSpc>
              <a:spcBef>
                <a:spcPct val="0"/>
              </a:spcBef>
            </a:pPr>
            <a:r>
              <a:rPr lang="en-US" b="true" sz="5600" spc="-112" u="sng">
                <a:solidFill>
                  <a:srgbClr val="FFFFFF"/>
                </a:solidFill>
                <a:latin typeface="TT Interphases Bold"/>
                <a:ea typeface="TT Interphases Bold"/>
                <a:cs typeface="TT Interphases Bold"/>
                <a:sym typeface="TT Interphases Bold"/>
              </a:rPr>
              <a:t>D</a:t>
            </a:r>
            <a:r>
              <a:rPr lang="en-US" b="true" sz="5600" spc="-112" u="sng">
                <a:solidFill>
                  <a:srgbClr val="FFFFFF"/>
                </a:solidFill>
                <a:latin typeface="TT Interphases Bold"/>
                <a:ea typeface="TT Interphases Bold"/>
                <a:cs typeface="TT Interphases Bold"/>
                <a:sym typeface="TT Interphases Bold"/>
              </a:rPr>
              <a:t>ataset Overview</a:t>
            </a:r>
          </a:p>
        </p:txBody>
      </p:sp>
      <p:sp>
        <p:nvSpPr>
          <p:cNvPr name="TextBox 3" id="3"/>
          <p:cNvSpPr txBox="true"/>
          <p:nvPr/>
        </p:nvSpPr>
        <p:spPr>
          <a:xfrm rot="0">
            <a:off x="1028700" y="1983309"/>
            <a:ext cx="8017788" cy="398145"/>
          </a:xfrm>
          <a:prstGeom prst="rect">
            <a:avLst/>
          </a:prstGeom>
        </p:spPr>
        <p:txBody>
          <a:bodyPr anchor="t" rtlCol="false" tIns="0" lIns="0" bIns="0" rIns="0">
            <a:spAutoFit/>
          </a:bodyPr>
          <a:lstStyle/>
          <a:p>
            <a:pPr algn="ctr">
              <a:lnSpc>
                <a:spcPts val="3120"/>
              </a:lnSpc>
              <a:spcBef>
                <a:spcPct val="0"/>
              </a:spcBef>
            </a:pPr>
            <a:r>
              <a:rPr lang="en-US" sz="2400" spc="-48">
                <a:solidFill>
                  <a:srgbClr val="FFFFFF"/>
                </a:solidFill>
                <a:latin typeface="TT Interphases"/>
                <a:ea typeface="TT Interphases"/>
                <a:cs typeface="TT Interphases"/>
                <a:sym typeface="TT Interphases"/>
              </a:rPr>
              <a:t>The dataset c</a:t>
            </a:r>
            <a:r>
              <a:rPr lang="en-US" sz="2400" spc="-48">
                <a:solidFill>
                  <a:srgbClr val="FFFFFF"/>
                </a:solidFill>
                <a:latin typeface="TT Interphases"/>
                <a:ea typeface="TT Interphases"/>
                <a:cs typeface="TT Interphases"/>
                <a:sym typeface="TT Interphases"/>
              </a:rPr>
              <a:t>ontains healthcare-related information including:</a:t>
            </a:r>
          </a:p>
        </p:txBody>
      </p:sp>
      <p:sp>
        <p:nvSpPr>
          <p:cNvPr name="TextBox 4" id="4"/>
          <p:cNvSpPr txBox="true"/>
          <p:nvPr/>
        </p:nvSpPr>
        <p:spPr>
          <a:xfrm rot="0">
            <a:off x="1200571" y="2774624"/>
            <a:ext cx="2860596" cy="2741295"/>
          </a:xfrm>
          <a:prstGeom prst="rect">
            <a:avLst/>
          </a:prstGeom>
        </p:spPr>
        <p:txBody>
          <a:bodyPr anchor="t" rtlCol="false" tIns="0" lIns="0" bIns="0" rIns="0">
            <a:spAutoFit/>
          </a:bodyPr>
          <a:lstStyle/>
          <a:p>
            <a:pPr algn="ctr">
              <a:lnSpc>
                <a:spcPts val="3120"/>
              </a:lnSpc>
              <a:spcBef>
                <a:spcPct val="0"/>
              </a:spcBef>
            </a:pPr>
            <a:r>
              <a:rPr lang="en-US" b="true" sz="2400" spc="-48">
                <a:solidFill>
                  <a:srgbClr val="FFFFFF"/>
                </a:solidFill>
                <a:latin typeface="TT Interphases Bold"/>
                <a:ea typeface="TT Interphases Bold"/>
                <a:cs typeface="TT Interphases Bold"/>
                <a:sym typeface="TT Interphases Bold"/>
              </a:rPr>
              <a:t>Patient Inf</a:t>
            </a:r>
            <a:r>
              <a:rPr lang="en-US" b="true" sz="2400" spc="-48">
                <a:solidFill>
                  <a:srgbClr val="FFFFFF"/>
                </a:solidFill>
                <a:latin typeface="TT Interphases Bold"/>
                <a:ea typeface="TT Interphases Bold"/>
                <a:cs typeface="TT Interphases Bold"/>
                <a:sym typeface="TT Interphases Bold"/>
              </a:rPr>
              <a:t>ormation</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Gender</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Age</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Blood Type</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Medical Condition</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Test Results</a:t>
            </a:r>
          </a:p>
          <a:p>
            <a:pPr algn="ctr">
              <a:lnSpc>
                <a:spcPts val="3120"/>
              </a:lnSpc>
              <a:spcBef>
                <a:spcPct val="0"/>
              </a:spcBef>
            </a:pPr>
          </a:p>
        </p:txBody>
      </p:sp>
      <p:sp>
        <p:nvSpPr>
          <p:cNvPr name="TextBox 5" id="5"/>
          <p:cNvSpPr txBox="true"/>
          <p:nvPr/>
        </p:nvSpPr>
        <p:spPr>
          <a:xfrm rot="0">
            <a:off x="5229870" y="2774624"/>
            <a:ext cx="4096583" cy="1960245"/>
          </a:xfrm>
          <a:prstGeom prst="rect">
            <a:avLst/>
          </a:prstGeom>
        </p:spPr>
        <p:txBody>
          <a:bodyPr anchor="t" rtlCol="false" tIns="0" lIns="0" bIns="0" rIns="0">
            <a:spAutoFit/>
          </a:bodyPr>
          <a:lstStyle/>
          <a:p>
            <a:pPr algn="ctr">
              <a:lnSpc>
                <a:spcPts val="3120"/>
              </a:lnSpc>
              <a:spcBef>
                <a:spcPct val="0"/>
              </a:spcBef>
            </a:pPr>
            <a:r>
              <a:rPr lang="en-US" b="true" sz="2400" spc="-48">
                <a:solidFill>
                  <a:srgbClr val="FFFFFF"/>
                </a:solidFill>
                <a:latin typeface="TT Interphases Bold"/>
                <a:ea typeface="TT Interphases Bold"/>
                <a:cs typeface="TT Interphases Bold"/>
                <a:sym typeface="TT Interphases Bold"/>
              </a:rPr>
              <a:t>H</a:t>
            </a:r>
            <a:r>
              <a:rPr lang="en-US" b="true" sz="2400" spc="-48">
                <a:solidFill>
                  <a:srgbClr val="FFFFFF"/>
                </a:solidFill>
                <a:latin typeface="TT Interphases Bold"/>
                <a:ea typeface="TT Interphases Bold"/>
                <a:cs typeface="TT Interphases Bold"/>
                <a:sym typeface="TT Interphases Bold"/>
              </a:rPr>
              <a:t>ospital &amp; Doctor Informatio</a:t>
            </a:r>
            <a:r>
              <a:rPr lang="en-US" sz="2400" spc="-48">
                <a:solidFill>
                  <a:srgbClr val="FFFFFF"/>
                </a:solidFill>
                <a:latin typeface="TT Interphases"/>
                <a:ea typeface="TT Interphases"/>
                <a:cs typeface="TT Interphases"/>
                <a:sym typeface="TT Interphases"/>
              </a:rPr>
              <a:t>n</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Hospital Name</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Doctor Name</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Admission Type</a:t>
            </a:r>
          </a:p>
          <a:p>
            <a:pPr algn="ctr">
              <a:lnSpc>
                <a:spcPts val="3120"/>
              </a:lnSpc>
              <a:spcBef>
                <a:spcPct val="0"/>
              </a:spcBef>
            </a:pPr>
          </a:p>
        </p:txBody>
      </p:sp>
      <p:sp>
        <p:nvSpPr>
          <p:cNvPr name="TextBox 6" id="6"/>
          <p:cNvSpPr txBox="true"/>
          <p:nvPr/>
        </p:nvSpPr>
        <p:spPr>
          <a:xfrm rot="0">
            <a:off x="10498028" y="2774624"/>
            <a:ext cx="2938344" cy="1569720"/>
          </a:xfrm>
          <a:prstGeom prst="rect">
            <a:avLst/>
          </a:prstGeom>
        </p:spPr>
        <p:txBody>
          <a:bodyPr anchor="t" rtlCol="false" tIns="0" lIns="0" bIns="0" rIns="0">
            <a:spAutoFit/>
          </a:bodyPr>
          <a:lstStyle/>
          <a:p>
            <a:pPr algn="ctr">
              <a:lnSpc>
                <a:spcPts val="3120"/>
              </a:lnSpc>
              <a:spcBef>
                <a:spcPct val="0"/>
              </a:spcBef>
            </a:pPr>
            <a:r>
              <a:rPr lang="en-US" b="true" sz="2400" spc="-48">
                <a:solidFill>
                  <a:srgbClr val="FFFFFF"/>
                </a:solidFill>
                <a:latin typeface="TT Interphases Bold"/>
                <a:ea typeface="TT Interphases Bold"/>
                <a:cs typeface="TT Interphases Bold"/>
                <a:sym typeface="TT Interphases Bold"/>
              </a:rPr>
              <a:t>Financial</a:t>
            </a:r>
            <a:r>
              <a:rPr lang="en-US" b="true" sz="2400" spc="-48">
                <a:solidFill>
                  <a:srgbClr val="FFFFFF"/>
                </a:solidFill>
                <a:latin typeface="TT Interphases Bold"/>
                <a:ea typeface="TT Interphases Bold"/>
                <a:cs typeface="TT Interphases Bold"/>
                <a:sym typeface="TT Interphases Bold"/>
              </a:rPr>
              <a:t> Data</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Billing Amount</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Insurance Provider</a:t>
            </a:r>
          </a:p>
          <a:p>
            <a:pPr algn="ctr">
              <a:lnSpc>
                <a:spcPts val="3120"/>
              </a:lnSpc>
              <a:spcBef>
                <a:spcPct val="0"/>
              </a:spcBef>
            </a:pPr>
          </a:p>
        </p:txBody>
      </p:sp>
      <p:sp>
        <p:nvSpPr>
          <p:cNvPr name="TextBox 7" id="7"/>
          <p:cNvSpPr txBox="true"/>
          <p:nvPr/>
        </p:nvSpPr>
        <p:spPr>
          <a:xfrm rot="0">
            <a:off x="14202820" y="2774624"/>
            <a:ext cx="3720227" cy="1960245"/>
          </a:xfrm>
          <a:prstGeom prst="rect">
            <a:avLst/>
          </a:prstGeom>
        </p:spPr>
        <p:txBody>
          <a:bodyPr anchor="t" rtlCol="false" tIns="0" lIns="0" bIns="0" rIns="0">
            <a:spAutoFit/>
          </a:bodyPr>
          <a:lstStyle/>
          <a:p>
            <a:pPr algn="ctr">
              <a:lnSpc>
                <a:spcPts val="3120"/>
              </a:lnSpc>
            </a:pPr>
            <a:r>
              <a:rPr lang="en-US" b="true" sz="2400" spc="-48">
                <a:solidFill>
                  <a:srgbClr val="FFFFFF"/>
                </a:solidFill>
                <a:latin typeface="TT Interphases Bold"/>
                <a:ea typeface="TT Interphases Bold"/>
                <a:cs typeface="TT Interphases Bold"/>
                <a:sym typeface="TT Interphases Bold"/>
              </a:rPr>
              <a:t>Dataset Size</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40,000+</a:t>
            </a:r>
            <a:r>
              <a:rPr lang="en-US" sz="2400" spc="-48">
                <a:solidFill>
                  <a:srgbClr val="FFFFFF"/>
                </a:solidFill>
                <a:latin typeface="TT Interphases"/>
                <a:ea typeface="TT Interphases"/>
                <a:cs typeface="TT Interphases"/>
                <a:sym typeface="TT Interphases"/>
              </a:rPr>
              <a:t> patient records</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30,000+ doctors</a:t>
            </a:r>
          </a:p>
          <a:p>
            <a:pPr algn="l" marL="518160" indent="-259080" lvl="1">
              <a:lnSpc>
                <a:spcPts val="3120"/>
              </a:lnSpc>
              <a:spcBef>
                <a:spcPct val="0"/>
              </a:spcBef>
              <a:buFont typeface="Arial"/>
              <a:buChar char="•"/>
            </a:pPr>
            <a:r>
              <a:rPr lang="en-US" sz="2400" spc="-48">
                <a:solidFill>
                  <a:srgbClr val="FFFFFF"/>
                </a:solidFill>
                <a:latin typeface="TT Interphases"/>
                <a:ea typeface="TT Interphases"/>
                <a:cs typeface="TT Interphases"/>
                <a:sym typeface="TT Interphases"/>
              </a:rPr>
              <a:t>30,000+ hospitals</a:t>
            </a:r>
          </a:p>
          <a:p>
            <a:pPr algn="ctr">
              <a:lnSpc>
                <a:spcPts val="3120"/>
              </a:lnSpc>
              <a:spcBef>
                <a:spcPct val="0"/>
              </a:spcBef>
            </a:pPr>
          </a:p>
        </p:txBody>
      </p:sp>
      <p:sp>
        <p:nvSpPr>
          <p:cNvPr name="TextBox 8" id="8"/>
          <p:cNvSpPr txBox="true"/>
          <p:nvPr/>
        </p:nvSpPr>
        <p:spPr>
          <a:xfrm rot="0">
            <a:off x="1200571" y="6220321"/>
            <a:ext cx="8125882" cy="2637194"/>
          </a:xfrm>
          <a:prstGeom prst="rect">
            <a:avLst/>
          </a:prstGeom>
        </p:spPr>
        <p:txBody>
          <a:bodyPr anchor="t" rtlCol="false" tIns="0" lIns="0" bIns="0" rIns="0">
            <a:spAutoFit/>
          </a:bodyPr>
          <a:lstStyle/>
          <a:p>
            <a:pPr algn="l">
              <a:lnSpc>
                <a:spcPts val="3519"/>
              </a:lnSpc>
            </a:pPr>
            <a:r>
              <a:rPr lang="en-US" sz="2707" spc="-54" b="true">
                <a:solidFill>
                  <a:srgbClr val="FFFFFF"/>
                </a:solidFill>
                <a:latin typeface="TT Interphases Bold"/>
                <a:ea typeface="TT Interphases Bold"/>
                <a:cs typeface="TT Interphases Bold"/>
                <a:sym typeface="TT Interphases Bold"/>
              </a:rPr>
              <a:t>The data was cleaned by:</a:t>
            </a:r>
          </a:p>
          <a:p>
            <a:pPr algn="l" marL="584468" indent="-292234" lvl="1">
              <a:lnSpc>
                <a:spcPts val="3519"/>
              </a:lnSpc>
              <a:spcBef>
                <a:spcPct val="0"/>
              </a:spcBef>
              <a:buFont typeface="Arial"/>
              <a:buChar char="•"/>
            </a:pPr>
            <a:r>
              <a:rPr lang="en-US" sz="2707" spc="-54">
                <a:solidFill>
                  <a:srgbClr val="FFFFFF"/>
                </a:solidFill>
                <a:latin typeface="TT Interphases"/>
                <a:ea typeface="TT Interphases"/>
                <a:cs typeface="TT Interphases"/>
                <a:sym typeface="TT Interphases"/>
              </a:rPr>
              <a:t>Rem</a:t>
            </a:r>
            <a:r>
              <a:rPr lang="en-US" sz="2707" spc="-54">
                <a:solidFill>
                  <a:srgbClr val="FFFFFF"/>
                </a:solidFill>
                <a:latin typeface="TT Interphases"/>
                <a:ea typeface="TT Interphases"/>
                <a:cs typeface="TT Interphases"/>
                <a:sym typeface="TT Interphases"/>
              </a:rPr>
              <a:t>oving duplicates</a:t>
            </a:r>
          </a:p>
          <a:p>
            <a:pPr algn="l" marL="584468" indent="-292234" lvl="1">
              <a:lnSpc>
                <a:spcPts val="3519"/>
              </a:lnSpc>
              <a:spcBef>
                <a:spcPct val="0"/>
              </a:spcBef>
              <a:buFont typeface="Arial"/>
              <a:buChar char="•"/>
            </a:pPr>
            <a:r>
              <a:rPr lang="en-US" sz="2707" spc="-54">
                <a:solidFill>
                  <a:srgbClr val="FFFFFF"/>
                </a:solidFill>
                <a:latin typeface="TT Interphases"/>
                <a:ea typeface="TT Interphases"/>
                <a:cs typeface="TT Interphases"/>
                <a:sym typeface="TT Interphases"/>
              </a:rPr>
              <a:t>Handling missing values</a:t>
            </a:r>
          </a:p>
          <a:p>
            <a:pPr algn="l" marL="584468" indent="-292234" lvl="1">
              <a:lnSpc>
                <a:spcPts val="3519"/>
              </a:lnSpc>
              <a:spcBef>
                <a:spcPct val="0"/>
              </a:spcBef>
              <a:buFont typeface="Arial"/>
              <a:buChar char="•"/>
            </a:pPr>
            <a:r>
              <a:rPr lang="en-US" sz="2707" spc="-54">
                <a:solidFill>
                  <a:srgbClr val="FFFFFF"/>
                </a:solidFill>
                <a:latin typeface="TT Interphases"/>
                <a:ea typeface="TT Interphases"/>
                <a:cs typeface="TT Interphases"/>
                <a:sym typeface="TT Interphases"/>
              </a:rPr>
              <a:t>Standardizing medical condition and hospital names</a:t>
            </a:r>
          </a:p>
          <a:p>
            <a:pPr algn="l" marL="584468" indent="-292234" lvl="1">
              <a:lnSpc>
                <a:spcPts val="3519"/>
              </a:lnSpc>
              <a:spcBef>
                <a:spcPct val="0"/>
              </a:spcBef>
              <a:buFont typeface="Arial"/>
              <a:buChar char="•"/>
            </a:pPr>
            <a:r>
              <a:rPr lang="en-US" sz="2707" spc="-54">
                <a:solidFill>
                  <a:srgbClr val="FFFFFF"/>
                </a:solidFill>
                <a:latin typeface="TT Interphases"/>
                <a:ea typeface="TT Interphases"/>
                <a:cs typeface="TT Interphases"/>
                <a:sym typeface="TT Interphases"/>
              </a:rPr>
              <a:t>Formatting numerical and categorical data</a:t>
            </a:r>
          </a:p>
          <a:p>
            <a:pPr algn="ctr">
              <a:lnSpc>
                <a:spcPts val="351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0F4F8"/>
        </a:solidFill>
      </p:bgPr>
    </p:bg>
    <p:spTree>
      <p:nvGrpSpPr>
        <p:cNvPr id="1" name=""/>
        <p:cNvGrpSpPr/>
        <p:nvPr/>
      </p:nvGrpSpPr>
      <p:grpSpPr>
        <a:xfrm>
          <a:off x="0" y="0"/>
          <a:ext cx="0" cy="0"/>
          <a:chOff x="0" y="0"/>
          <a:chExt cx="0" cy="0"/>
        </a:xfrm>
      </p:grpSpPr>
      <p:sp>
        <p:nvSpPr>
          <p:cNvPr name="TextBox 2" id="2"/>
          <p:cNvSpPr txBox="true"/>
          <p:nvPr/>
        </p:nvSpPr>
        <p:spPr>
          <a:xfrm rot="0">
            <a:off x="1637404" y="1000125"/>
            <a:ext cx="12836200" cy="529590"/>
          </a:xfrm>
          <a:prstGeom prst="rect">
            <a:avLst/>
          </a:prstGeom>
        </p:spPr>
        <p:txBody>
          <a:bodyPr anchor="t" rtlCol="false" tIns="0" lIns="0" bIns="0" rIns="0">
            <a:spAutoFit/>
          </a:bodyPr>
          <a:lstStyle/>
          <a:p>
            <a:pPr algn="ctr">
              <a:lnSpc>
                <a:spcPts val="4289"/>
              </a:lnSpc>
              <a:spcBef>
                <a:spcPct val="0"/>
              </a:spcBef>
            </a:pPr>
            <a:r>
              <a:rPr lang="en-US" b="true" sz="3299" spc="-65">
                <a:solidFill>
                  <a:srgbClr val="004B70"/>
                </a:solidFill>
                <a:latin typeface="TT Interphases Bold"/>
                <a:ea typeface="TT Interphases Bold"/>
                <a:cs typeface="TT Interphases Bold"/>
                <a:sym typeface="TT Interphases Bold"/>
              </a:rPr>
              <a:t>Page 1 –</a:t>
            </a:r>
            <a:r>
              <a:rPr lang="en-US" b="true" sz="3299" spc="-65">
                <a:solidFill>
                  <a:srgbClr val="004B70"/>
                </a:solidFill>
                <a:latin typeface="TT Interphases Bold"/>
                <a:ea typeface="TT Interphases Bold"/>
                <a:cs typeface="TT Interphases Bold"/>
                <a:sym typeface="TT Interphases Bold"/>
              </a:rPr>
              <a:t> Healthcare Patient Insights &amp; Hospital Performance</a:t>
            </a:r>
          </a:p>
        </p:txBody>
      </p:sp>
      <p:sp>
        <p:nvSpPr>
          <p:cNvPr name="TextBox 3" id="3"/>
          <p:cNvSpPr txBox="true"/>
          <p:nvPr/>
        </p:nvSpPr>
        <p:spPr>
          <a:xfrm rot="0">
            <a:off x="1501469" y="2247081"/>
            <a:ext cx="14116558" cy="6842521"/>
          </a:xfrm>
          <a:prstGeom prst="rect">
            <a:avLst/>
          </a:prstGeom>
        </p:spPr>
        <p:txBody>
          <a:bodyPr anchor="t" rtlCol="false" tIns="0" lIns="0" bIns="0" rIns="0">
            <a:spAutoFit/>
          </a:bodyPr>
          <a:lstStyle/>
          <a:p>
            <a:pPr algn="l" marL="647700" indent="-323850" lvl="1">
              <a:lnSpc>
                <a:spcPts val="3900"/>
              </a:lnSpc>
              <a:buFont typeface="Arial"/>
              <a:buChar char="•"/>
            </a:pPr>
            <a:r>
              <a:rPr lang="en-US" sz="3000" spc="-60">
                <a:solidFill>
                  <a:srgbClr val="004B70"/>
                </a:solidFill>
                <a:latin typeface="TT Interphases"/>
                <a:ea typeface="TT Interphases"/>
                <a:cs typeface="TT Interphases"/>
                <a:sym typeface="TT Interphases"/>
              </a:rPr>
              <a:t>The dashboard provides an overview of patient data and hospital performance.</a:t>
            </a:r>
          </a:p>
          <a:p>
            <a:pPr algn="l" marL="647700" indent="-323850" lvl="1">
              <a:lnSpc>
                <a:spcPts val="3900"/>
              </a:lnSpc>
              <a:buFont typeface="Arial"/>
              <a:buChar char="•"/>
            </a:pPr>
            <a:r>
              <a:rPr lang="en-US" sz="3000" spc="-60">
                <a:solidFill>
                  <a:srgbClr val="004B70"/>
                </a:solidFill>
                <a:latin typeface="TT Interphases"/>
                <a:ea typeface="TT Interphases"/>
                <a:cs typeface="TT Interphases"/>
                <a:sym typeface="TT Interphases"/>
              </a:rPr>
              <a:t>Key metrics show 40K total patients, 34K doctors, and 33K hospitals.</a:t>
            </a:r>
          </a:p>
          <a:p>
            <a:pPr algn="l" marL="647700" indent="-323850" lvl="1">
              <a:lnSpc>
                <a:spcPts val="3900"/>
              </a:lnSpc>
              <a:spcBef>
                <a:spcPct val="0"/>
              </a:spcBef>
              <a:buFont typeface="Arial"/>
              <a:buChar char="•"/>
            </a:pPr>
            <a:r>
              <a:rPr lang="en-US" sz="3000" spc="-60">
                <a:solidFill>
                  <a:srgbClr val="004B70"/>
                </a:solidFill>
                <a:latin typeface="TT Interphases"/>
                <a:ea typeface="TT Interphases"/>
                <a:cs typeface="TT Interphases"/>
                <a:sym typeface="TT Interphases"/>
              </a:rPr>
              <a:t>The average billing am</a:t>
            </a:r>
            <a:r>
              <a:rPr lang="en-US" sz="3000" spc="-60">
                <a:solidFill>
                  <a:srgbClr val="004B70"/>
                </a:solidFill>
                <a:latin typeface="TT Interphases"/>
                <a:ea typeface="TT Interphases"/>
                <a:cs typeface="TT Interphases"/>
                <a:sym typeface="TT Interphases"/>
              </a:rPr>
              <a:t>ount is 25.56K, while the total billing amount exceeds 1 billion.</a:t>
            </a:r>
          </a:p>
          <a:p>
            <a:pPr algn="l" marL="647700" indent="-323850" lvl="1">
              <a:lnSpc>
                <a:spcPts val="3900"/>
              </a:lnSpc>
              <a:spcBef>
                <a:spcPct val="0"/>
              </a:spcBef>
              <a:buFont typeface="Arial"/>
              <a:buChar char="•"/>
            </a:pPr>
            <a:r>
              <a:rPr lang="en-US" sz="3000" spc="-60">
                <a:solidFill>
                  <a:srgbClr val="004B70"/>
                </a:solidFill>
                <a:latin typeface="TT Interphases"/>
                <a:ea typeface="TT Interphases"/>
                <a:cs typeface="TT Interphases"/>
                <a:sym typeface="TT Interphases"/>
              </a:rPr>
              <a:t>The charts show the distribution of patients by gender, admission type (elective, emergency, urgent), and age group, where adults form the largest group.</a:t>
            </a:r>
          </a:p>
          <a:p>
            <a:pPr algn="l" marL="647700" indent="-323850" lvl="1">
              <a:lnSpc>
                <a:spcPts val="3900"/>
              </a:lnSpc>
              <a:spcBef>
                <a:spcPct val="0"/>
              </a:spcBef>
              <a:buFont typeface="Arial"/>
              <a:buChar char="•"/>
            </a:pPr>
            <a:r>
              <a:rPr lang="en-US" sz="3000" spc="-60">
                <a:solidFill>
                  <a:srgbClr val="004B70"/>
                </a:solidFill>
                <a:latin typeface="TT Interphases"/>
                <a:ea typeface="TT Interphases"/>
                <a:cs typeface="TT Interphases"/>
                <a:sym typeface="TT Interphases"/>
              </a:rPr>
              <a:t>It also highlights common medical conditions such as diabetes, cancer, asthma, and hypertension.</a:t>
            </a:r>
          </a:p>
          <a:p>
            <a:pPr algn="l" marL="647700" indent="-323850" lvl="1">
              <a:lnSpc>
                <a:spcPts val="3900"/>
              </a:lnSpc>
              <a:spcBef>
                <a:spcPct val="0"/>
              </a:spcBef>
              <a:buFont typeface="Arial"/>
              <a:buChar char="•"/>
            </a:pPr>
            <a:r>
              <a:rPr lang="en-US" sz="3000" spc="-60">
                <a:solidFill>
                  <a:srgbClr val="004B70"/>
                </a:solidFill>
                <a:latin typeface="TT Interphases"/>
                <a:ea typeface="TT Interphases"/>
                <a:cs typeface="TT Interphases"/>
                <a:sym typeface="TT Interphases"/>
              </a:rPr>
              <a:t>Additional visuals display total billing amount by hospital and patient count by doctor.</a:t>
            </a:r>
          </a:p>
          <a:p>
            <a:pPr algn="l" marL="647700" indent="-323850" lvl="1">
              <a:lnSpc>
                <a:spcPts val="3900"/>
              </a:lnSpc>
              <a:spcBef>
                <a:spcPct val="0"/>
              </a:spcBef>
              <a:buFont typeface="Arial"/>
              <a:buChar char="•"/>
            </a:pPr>
            <a:r>
              <a:rPr lang="en-US" sz="3000" spc="-60">
                <a:solidFill>
                  <a:srgbClr val="004B70"/>
                </a:solidFill>
                <a:latin typeface="TT Interphases"/>
                <a:ea typeface="TT Interphases"/>
                <a:cs typeface="TT Interphases"/>
                <a:sym typeface="TT Interphases"/>
              </a:rPr>
              <a:t>The test results chart shows the distribution of normal, abnormal, and inconclusive results.</a:t>
            </a:r>
          </a:p>
          <a:p>
            <a:pPr algn="l" marL="647700" indent="-323850" lvl="1">
              <a:lnSpc>
                <a:spcPts val="3900"/>
              </a:lnSpc>
              <a:spcBef>
                <a:spcPct val="0"/>
              </a:spcBef>
              <a:buFont typeface="Arial"/>
              <a:buChar char="•"/>
            </a:pPr>
            <a:r>
              <a:rPr lang="en-US" sz="3000" spc="-60">
                <a:solidFill>
                  <a:srgbClr val="004B70"/>
                </a:solidFill>
                <a:latin typeface="TT Interphases"/>
                <a:ea typeface="TT Interphases"/>
                <a:cs typeface="TT Interphases"/>
                <a:sym typeface="TT Interphases"/>
              </a:rPr>
              <a:t>The slicers allow users to filter the dashboard by hospital, admission type, insurance provider, medical condition, and gender for better analysis.</a:t>
            </a:r>
          </a:p>
          <a:p>
            <a:pPr algn="l">
              <a:lnSpc>
                <a:spcPts val="3168"/>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04B70"/>
        </a:solidFill>
      </p:bgPr>
    </p:bg>
    <p:spTree>
      <p:nvGrpSpPr>
        <p:cNvPr id="1" name=""/>
        <p:cNvGrpSpPr/>
        <p:nvPr/>
      </p:nvGrpSpPr>
      <p:grpSpPr>
        <a:xfrm>
          <a:off x="0" y="0"/>
          <a:ext cx="0" cy="0"/>
          <a:chOff x="0" y="0"/>
          <a:chExt cx="0" cy="0"/>
        </a:xfrm>
      </p:grpSpPr>
      <p:sp>
        <p:nvSpPr>
          <p:cNvPr name="TextBox 2" id="2"/>
          <p:cNvSpPr txBox="true"/>
          <p:nvPr/>
        </p:nvSpPr>
        <p:spPr>
          <a:xfrm rot="0">
            <a:off x="669574" y="1000125"/>
            <a:ext cx="11022334" cy="467995"/>
          </a:xfrm>
          <a:prstGeom prst="rect">
            <a:avLst/>
          </a:prstGeom>
        </p:spPr>
        <p:txBody>
          <a:bodyPr anchor="t" rtlCol="false" tIns="0" lIns="0" bIns="0" rIns="0">
            <a:spAutoFit/>
          </a:bodyPr>
          <a:lstStyle/>
          <a:p>
            <a:pPr algn="ctr">
              <a:lnSpc>
                <a:spcPts val="3769"/>
              </a:lnSpc>
              <a:spcBef>
                <a:spcPct val="0"/>
              </a:spcBef>
            </a:pPr>
            <a:r>
              <a:rPr lang="en-US" b="true" sz="2899" spc="-57">
                <a:solidFill>
                  <a:srgbClr val="FFFFFF"/>
                </a:solidFill>
                <a:latin typeface="TT Interphases Bold"/>
                <a:ea typeface="TT Interphases Bold"/>
                <a:cs typeface="TT Interphases Bold"/>
                <a:sym typeface="TT Interphases Bold"/>
              </a:rPr>
              <a:t>Page 2 –</a:t>
            </a:r>
            <a:r>
              <a:rPr lang="en-US" b="true" sz="2899" spc="-57">
                <a:solidFill>
                  <a:srgbClr val="FFFFFF"/>
                </a:solidFill>
                <a:latin typeface="TT Interphases Bold"/>
                <a:ea typeface="TT Interphases Bold"/>
                <a:cs typeface="TT Interphases Bold"/>
                <a:sym typeface="TT Interphases Bold"/>
              </a:rPr>
              <a:t> Healthcare Billing &amp; Insurance Insights</a:t>
            </a:r>
          </a:p>
        </p:txBody>
      </p:sp>
      <p:sp>
        <p:nvSpPr>
          <p:cNvPr name="TextBox 3" id="3"/>
          <p:cNvSpPr txBox="true"/>
          <p:nvPr/>
        </p:nvSpPr>
        <p:spPr>
          <a:xfrm rot="0">
            <a:off x="1647931" y="2225550"/>
            <a:ext cx="15141760" cy="6788785"/>
          </a:xfrm>
          <a:prstGeom prst="rect">
            <a:avLst/>
          </a:prstGeom>
        </p:spPr>
        <p:txBody>
          <a:bodyPr anchor="t" rtlCol="false" tIns="0" lIns="0" bIns="0" rIns="0">
            <a:spAutoFit/>
          </a:bodyPr>
          <a:lstStyle/>
          <a:p>
            <a:pPr algn="l" marL="690881" indent="-345440" lvl="1">
              <a:lnSpc>
                <a:spcPts val="4160"/>
              </a:lnSpc>
              <a:buFont typeface="Arial"/>
              <a:buChar char="•"/>
            </a:pPr>
            <a:r>
              <a:rPr lang="en-US" sz="3200" spc="-64">
                <a:solidFill>
                  <a:srgbClr val="FFFFFF"/>
                </a:solidFill>
                <a:latin typeface="TT Interphases"/>
                <a:ea typeface="TT Interphases"/>
                <a:cs typeface="TT Interphases"/>
                <a:sym typeface="TT Interphases"/>
              </a:rPr>
              <a:t>This dashboard focuses on billing trends, insurance providers, and patient demographics.</a:t>
            </a:r>
          </a:p>
          <a:p>
            <a:pPr algn="l" marL="690881" indent="-345440" lvl="1">
              <a:lnSpc>
                <a:spcPts val="4160"/>
              </a:lnSpc>
              <a:buFont typeface="Arial"/>
              <a:buChar char="•"/>
            </a:pPr>
            <a:r>
              <a:rPr lang="en-US" sz="3200" spc="-64">
                <a:solidFill>
                  <a:srgbClr val="FFFFFF"/>
                </a:solidFill>
                <a:latin typeface="TT Interphases"/>
                <a:ea typeface="TT Interphases"/>
                <a:cs typeface="TT Interphases"/>
                <a:sym typeface="TT Interphases"/>
              </a:rPr>
              <a:t>The treemap chart shows the distribution of patients based on different blood types.</a:t>
            </a:r>
          </a:p>
          <a:p>
            <a:pPr algn="l" marL="690881" indent="-345440" lvl="1">
              <a:lnSpc>
                <a:spcPts val="4160"/>
              </a:lnSpc>
              <a:buFont typeface="Arial"/>
              <a:buChar char="•"/>
            </a:pPr>
            <a:r>
              <a:rPr lang="en-US" sz="3200" spc="-64">
                <a:solidFill>
                  <a:srgbClr val="FFFFFF"/>
                </a:solidFill>
                <a:latin typeface="TT Interphases"/>
                <a:ea typeface="TT Interphases"/>
                <a:cs typeface="TT Interphases"/>
                <a:sym typeface="TT Interphases"/>
              </a:rPr>
              <a:t>The scatter chart analyzes the relationship between age, billing amount, and patient count.</a:t>
            </a:r>
          </a:p>
          <a:p>
            <a:pPr algn="l" marL="690881" indent="-345440" lvl="1">
              <a:lnSpc>
                <a:spcPts val="4160"/>
              </a:lnSpc>
              <a:buFont typeface="Arial"/>
              <a:buChar char="•"/>
            </a:pPr>
            <a:r>
              <a:rPr lang="en-US" sz="3200" spc="-64">
                <a:solidFill>
                  <a:srgbClr val="FFFFFF"/>
                </a:solidFill>
                <a:latin typeface="TT Interphases"/>
                <a:ea typeface="TT Interphases"/>
                <a:cs typeface="TT Interphases"/>
                <a:sym typeface="TT Interphases"/>
              </a:rPr>
              <a:t>The line chart displays the average billing amount across different age groups.</a:t>
            </a:r>
          </a:p>
          <a:p>
            <a:pPr algn="l" marL="690881" indent="-345440" lvl="1">
              <a:lnSpc>
                <a:spcPts val="4160"/>
              </a:lnSpc>
              <a:spcBef>
                <a:spcPct val="0"/>
              </a:spcBef>
              <a:buFont typeface="Arial"/>
              <a:buChar char="•"/>
            </a:pPr>
            <a:r>
              <a:rPr lang="en-US" sz="3200" spc="-64">
                <a:solidFill>
                  <a:srgbClr val="FFFFFF"/>
                </a:solidFill>
                <a:latin typeface="TT Interphases"/>
                <a:ea typeface="TT Interphases"/>
                <a:cs typeface="TT Interphases"/>
                <a:sym typeface="TT Interphases"/>
              </a:rPr>
              <a:t>The yearly chart shows h</a:t>
            </a:r>
            <a:r>
              <a:rPr lang="en-US" sz="3200" spc="-64">
                <a:solidFill>
                  <a:srgbClr val="FFFFFF"/>
                </a:solidFill>
                <a:latin typeface="TT Interphases"/>
                <a:ea typeface="TT Interphases"/>
                <a:cs typeface="TT Interphases"/>
                <a:sym typeface="TT Interphases"/>
              </a:rPr>
              <a:t>ow the number of patients has changed over time.</a:t>
            </a:r>
          </a:p>
          <a:p>
            <a:pPr algn="l" marL="690881" indent="-345440" lvl="1">
              <a:lnSpc>
                <a:spcPts val="4160"/>
              </a:lnSpc>
              <a:spcBef>
                <a:spcPct val="0"/>
              </a:spcBef>
              <a:buFont typeface="Arial"/>
              <a:buChar char="•"/>
            </a:pPr>
            <a:r>
              <a:rPr lang="en-US" sz="3200" spc="-64">
                <a:solidFill>
                  <a:srgbClr val="FFFFFF"/>
                </a:solidFill>
                <a:latin typeface="TT Interphases"/>
                <a:ea typeface="TT Interphases"/>
                <a:cs typeface="TT Interphases"/>
                <a:sym typeface="TT Interphases"/>
              </a:rPr>
              <a:t>The medication chart highlights commonly used medicines such as Lipitor, Aspirin, Ibuprofen, Penicillin, and Paracetamol.</a:t>
            </a:r>
          </a:p>
          <a:p>
            <a:pPr algn="l" marL="690881" indent="-345440" lvl="1">
              <a:lnSpc>
                <a:spcPts val="4160"/>
              </a:lnSpc>
              <a:spcBef>
                <a:spcPct val="0"/>
              </a:spcBef>
              <a:buFont typeface="Arial"/>
              <a:buChar char="•"/>
            </a:pPr>
            <a:r>
              <a:rPr lang="en-US" sz="3200" spc="-64">
                <a:solidFill>
                  <a:srgbClr val="FFFFFF"/>
                </a:solidFill>
                <a:latin typeface="TT Interphases"/>
                <a:ea typeface="TT Interphases"/>
                <a:cs typeface="TT Interphases"/>
                <a:sym typeface="TT Interphases"/>
              </a:rPr>
              <a:t>The gauge chart shows the average billing amount, which is around 25.56K.</a:t>
            </a:r>
          </a:p>
          <a:p>
            <a:pPr algn="l" marL="690881" indent="-345440" lvl="1">
              <a:lnSpc>
                <a:spcPts val="4160"/>
              </a:lnSpc>
              <a:spcBef>
                <a:spcPct val="0"/>
              </a:spcBef>
              <a:buFont typeface="Arial"/>
              <a:buChar char="•"/>
            </a:pPr>
            <a:r>
              <a:rPr lang="en-US" sz="3200" spc="-64">
                <a:solidFill>
                  <a:srgbClr val="FFFFFF"/>
                </a:solidFill>
                <a:latin typeface="TT Interphases"/>
                <a:ea typeface="TT Interphases"/>
                <a:cs typeface="TT Interphases"/>
                <a:sym typeface="TT Interphases"/>
              </a:rPr>
              <a:t>The doctor table provides admission details handled by each doctor, including elective, emergency, and urgent cases.</a:t>
            </a:r>
          </a:p>
          <a:p>
            <a:pPr algn="l">
              <a:lnSpc>
                <a:spcPts val="416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2779A2"/>
        </a:solidFill>
      </p:bgPr>
    </p:bg>
    <p:spTree>
      <p:nvGrpSpPr>
        <p:cNvPr id="1" name=""/>
        <p:cNvGrpSpPr/>
        <p:nvPr/>
      </p:nvGrpSpPr>
      <p:grpSpPr>
        <a:xfrm>
          <a:off x="0" y="0"/>
          <a:ext cx="0" cy="0"/>
          <a:chOff x="0" y="0"/>
          <a:chExt cx="0" cy="0"/>
        </a:xfrm>
      </p:grpSpPr>
      <p:sp>
        <p:nvSpPr>
          <p:cNvPr name="TextBox 2" id="2"/>
          <p:cNvSpPr txBox="true"/>
          <p:nvPr/>
        </p:nvSpPr>
        <p:spPr>
          <a:xfrm rot="0">
            <a:off x="1028700" y="1121599"/>
            <a:ext cx="16407115" cy="7096836"/>
          </a:xfrm>
          <a:prstGeom prst="rect">
            <a:avLst/>
          </a:prstGeom>
        </p:spPr>
        <p:txBody>
          <a:bodyPr anchor="t" rtlCol="false" tIns="0" lIns="0" bIns="0" rIns="0">
            <a:spAutoFit/>
          </a:bodyPr>
          <a:lstStyle/>
          <a:p>
            <a:pPr algn="l">
              <a:lnSpc>
                <a:spcPts val="7394"/>
              </a:lnSpc>
            </a:pPr>
            <a:r>
              <a:rPr lang="en-US" b="true" sz="5687" spc="-113" u="sng">
                <a:solidFill>
                  <a:srgbClr val="FFFFFF"/>
                </a:solidFill>
                <a:latin typeface="TT Interphases Bold"/>
                <a:ea typeface="TT Interphases Bold"/>
                <a:cs typeface="TT Interphases Bold"/>
                <a:sym typeface="TT Interphases Bold"/>
              </a:rPr>
              <a:t>Key Insights</a:t>
            </a:r>
          </a:p>
          <a:p>
            <a:pPr algn="l">
              <a:lnSpc>
                <a:spcPts val="7394"/>
              </a:lnSpc>
            </a:pPr>
          </a:p>
          <a:p>
            <a:pPr algn="l">
              <a:lnSpc>
                <a:spcPts val="4160"/>
              </a:lnSpc>
              <a:spcBef>
                <a:spcPct val="0"/>
              </a:spcBef>
            </a:pPr>
            <a:r>
              <a:rPr lang="en-US" sz="3200" spc="-64">
                <a:solidFill>
                  <a:srgbClr val="FFFFFF"/>
                </a:solidFill>
                <a:latin typeface="TT Interphases"/>
                <a:ea typeface="TT Interphases"/>
                <a:cs typeface="TT Interphases"/>
                <a:sym typeface="TT Interphases"/>
              </a:rPr>
              <a:t>• The dataset includes </a:t>
            </a:r>
            <a:r>
              <a:rPr lang="en-US" sz="3200" spc="-64">
                <a:solidFill>
                  <a:srgbClr val="FFFFFF"/>
                </a:solidFill>
                <a:latin typeface="TT Interphases"/>
                <a:ea typeface="TT Interphases"/>
                <a:cs typeface="TT Interphases"/>
                <a:sym typeface="TT Interphases"/>
              </a:rPr>
              <a:t>over 40K patients across multiple hospitals.</a:t>
            </a:r>
          </a:p>
          <a:p>
            <a:pPr algn="l">
              <a:lnSpc>
                <a:spcPts val="4160"/>
              </a:lnSpc>
              <a:spcBef>
                <a:spcPct val="0"/>
              </a:spcBef>
            </a:pPr>
            <a:r>
              <a:rPr lang="en-US" sz="3200" spc="-64">
                <a:solidFill>
                  <a:srgbClr val="FFFFFF"/>
                </a:solidFill>
                <a:latin typeface="TT Interphases"/>
                <a:ea typeface="TT Interphases"/>
                <a:cs typeface="TT Interphases"/>
                <a:sym typeface="TT Interphases"/>
              </a:rPr>
              <a:t>• Adult patients represent the largest patient group, followed by seniors and young adults.</a:t>
            </a:r>
          </a:p>
          <a:p>
            <a:pPr algn="l">
              <a:lnSpc>
                <a:spcPts val="4160"/>
              </a:lnSpc>
              <a:spcBef>
                <a:spcPct val="0"/>
              </a:spcBef>
            </a:pPr>
            <a:r>
              <a:rPr lang="en-US" sz="3200" spc="-64">
                <a:solidFill>
                  <a:srgbClr val="FFFFFF"/>
                </a:solidFill>
                <a:latin typeface="TT Interphases"/>
                <a:ea typeface="TT Interphases"/>
                <a:cs typeface="TT Interphases"/>
                <a:sym typeface="TT Interphases"/>
              </a:rPr>
              <a:t>• Elective, emergency, and urgent admissions are almost evenly distributed, indicating </a:t>
            </a:r>
          </a:p>
          <a:p>
            <a:pPr algn="l">
              <a:lnSpc>
                <a:spcPts val="4160"/>
              </a:lnSpc>
              <a:spcBef>
                <a:spcPct val="0"/>
              </a:spcBef>
            </a:pPr>
            <a:r>
              <a:rPr lang="en-US" sz="3200" spc="-64">
                <a:solidFill>
                  <a:srgbClr val="FFFFFF"/>
                </a:solidFill>
                <a:latin typeface="TT Interphases"/>
                <a:ea typeface="TT Interphases"/>
                <a:cs typeface="TT Interphases"/>
                <a:sym typeface="TT Interphases"/>
              </a:rPr>
              <a:t>    balanced  hospital usage.</a:t>
            </a:r>
          </a:p>
          <a:p>
            <a:pPr algn="l">
              <a:lnSpc>
                <a:spcPts val="4160"/>
              </a:lnSpc>
              <a:spcBef>
                <a:spcPct val="0"/>
              </a:spcBef>
            </a:pPr>
            <a:r>
              <a:rPr lang="en-US" sz="3200" spc="-64">
                <a:solidFill>
                  <a:srgbClr val="FFFFFF"/>
                </a:solidFill>
                <a:latin typeface="TT Interphases"/>
                <a:ea typeface="TT Interphases"/>
                <a:cs typeface="TT Interphases"/>
                <a:sym typeface="TT Interphases"/>
              </a:rPr>
              <a:t>• Common medical conditions include diabetes, cancer, asthma, hypertension, and arthritis.</a:t>
            </a:r>
          </a:p>
          <a:p>
            <a:pPr algn="l">
              <a:lnSpc>
                <a:spcPts val="4160"/>
              </a:lnSpc>
              <a:spcBef>
                <a:spcPct val="0"/>
              </a:spcBef>
            </a:pPr>
            <a:r>
              <a:rPr lang="en-US" sz="3200" spc="-64">
                <a:solidFill>
                  <a:srgbClr val="FFFFFF"/>
                </a:solidFill>
                <a:latin typeface="TT Interphases"/>
                <a:ea typeface="TT Interphases"/>
                <a:cs typeface="TT Interphases"/>
                <a:sym typeface="TT Interphases"/>
              </a:rPr>
              <a:t>• Total healthcare billing exceeds 1 billion, highlighting the financial scale of healthcare services.</a:t>
            </a:r>
          </a:p>
          <a:p>
            <a:pPr algn="l">
              <a:lnSpc>
                <a:spcPts val="4160"/>
              </a:lnSpc>
              <a:spcBef>
                <a:spcPct val="0"/>
              </a:spcBef>
            </a:pPr>
            <a:r>
              <a:rPr lang="en-US" sz="3200" spc="-64">
                <a:solidFill>
                  <a:srgbClr val="FFFFFF"/>
                </a:solidFill>
                <a:latin typeface="TT Interphases"/>
                <a:ea typeface="TT Interphases"/>
                <a:cs typeface="TT Interphases"/>
                <a:sym typeface="TT Interphases"/>
              </a:rPr>
              <a:t>• Insurance providers such as Blue Cross, Medicare, and Cigna contribute significantly to</a:t>
            </a:r>
          </a:p>
          <a:p>
            <a:pPr algn="l">
              <a:lnSpc>
                <a:spcPts val="4160"/>
              </a:lnSpc>
              <a:spcBef>
                <a:spcPct val="0"/>
              </a:spcBef>
            </a:pPr>
            <a:r>
              <a:rPr lang="en-US" sz="3200" spc="-64">
                <a:solidFill>
                  <a:srgbClr val="FFFFFF"/>
                </a:solidFill>
                <a:latin typeface="TT Interphases"/>
                <a:ea typeface="TT Interphases"/>
                <a:cs typeface="TT Interphases"/>
                <a:sym typeface="TT Interphases"/>
              </a:rPr>
              <a:t>   billing  coverage.</a:t>
            </a:r>
          </a:p>
          <a:p>
            <a:pPr algn="l">
              <a:lnSpc>
                <a:spcPts val="4160"/>
              </a:lnSpc>
              <a:spcBef>
                <a:spcPct val="0"/>
              </a:spcBef>
            </a:pPr>
            <a:r>
              <a:rPr lang="en-US" sz="3200" spc="-64">
                <a:solidFill>
                  <a:srgbClr val="FFFFFF"/>
                </a:solidFill>
                <a:latin typeface="TT Interphases"/>
                <a:ea typeface="TT Interphases"/>
                <a:cs typeface="TT Interphases"/>
                <a:sym typeface="TT Interphases"/>
              </a:rPr>
              <a:t>• Patient test results are fairly distributed among normal, abnormal, and inconclusive results.</a:t>
            </a:r>
          </a:p>
          <a:p>
            <a:pPr algn="l">
              <a:lnSpc>
                <a:spcPts val="416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2779A2"/>
        </a:solidFill>
      </p:bgPr>
    </p:bg>
    <p:spTree>
      <p:nvGrpSpPr>
        <p:cNvPr id="1" name=""/>
        <p:cNvGrpSpPr/>
        <p:nvPr/>
      </p:nvGrpSpPr>
      <p:grpSpPr>
        <a:xfrm>
          <a:off x="0" y="0"/>
          <a:ext cx="0" cy="0"/>
          <a:chOff x="0" y="0"/>
          <a:chExt cx="0" cy="0"/>
        </a:xfrm>
      </p:grpSpPr>
      <p:sp>
        <p:nvSpPr>
          <p:cNvPr name="TextBox 2" id="2"/>
          <p:cNvSpPr txBox="true"/>
          <p:nvPr/>
        </p:nvSpPr>
        <p:spPr>
          <a:xfrm rot="0">
            <a:off x="1785531" y="716946"/>
            <a:ext cx="13743011" cy="8068310"/>
          </a:xfrm>
          <a:prstGeom prst="rect">
            <a:avLst/>
          </a:prstGeom>
        </p:spPr>
        <p:txBody>
          <a:bodyPr anchor="t" rtlCol="false" tIns="0" lIns="0" bIns="0" rIns="0">
            <a:spAutoFit/>
          </a:bodyPr>
          <a:lstStyle/>
          <a:p>
            <a:pPr algn="l">
              <a:lnSpc>
                <a:spcPts val="7280"/>
              </a:lnSpc>
              <a:spcBef>
                <a:spcPct val="0"/>
              </a:spcBef>
            </a:pPr>
            <a:r>
              <a:rPr lang="en-US" b="true" sz="5600" spc="-112" u="sng">
                <a:solidFill>
                  <a:srgbClr val="FFFFFF"/>
                </a:solidFill>
                <a:latin typeface="TT Interphases Bold"/>
                <a:ea typeface="TT Interphases Bold"/>
                <a:cs typeface="TT Interphases Bold"/>
                <a:sym typeface="TT Interphases Bold"/>
              </a:rPr>
              <a:t>C</a:t>
            </a:r>
            <a:r>
              <a:rPr lang="en-US" b="true" sz="5600" spc="-112" u="sng">
                <a:solidFill>
                  <a:srgbClr val="FFFFFF"/>
                </a:solidFill>
                <a:latin typeface="TT Interphases Bold"/>
                <a:ea typeface="TT Interphases Bold"/>
                <a:cs typeface="TT Interphases Bold"/>
                <a:sym typeface="TT Interphases Bold"/>
              </a:rPr>
              <a:t>onclusion</a:t>
            </a:r>
          </a:p>
          <a:p>
            <a:pPr algn="l">
              <a:lnSpc>
                <a:spcPts val="7280"/>
              </a:lnSpc>
              <a:spcBef>
                <a:spcPct val="0"/>
              </a:spcBef>
            </a:pPr>
          </a:p>
          <a:p>
            <a:pPr algn="l">
              <a:lnSpc>
                <a:spcPts val="4550"/>
              </a:lnSpc>
              <a:spcBef>
                <a:spcPct val="0"/>
              </a:spcBef>
            </a:pPr>
            <a:r>
              <a:rPr lang="en-US" sz="3500" spc="-70">
                <a:solidFill>
                  <a:srgbClr val="FFFFFF"/>
                </a:solidFill>
                <a:latin typeface="TT Interphases"/>
                <a:ea typeface="TT Interphases"/>
                <a:cs typeface="TT Interphases"/>
                <a:sym typeface="TT Interphases"/>
              </a:rPr>
              <a:t>This dashboard provides insights into patient demographics, hospital performance, and healthcare billing trends. It highlights patterns in admissions, medical conditions, and patient distribution across hospitals and doctors, while also analyzing billing amounts and insurance providers. Using interactive visuals in Microsoft Power BI, the data is presented in a clear and understandable way, helping support better analysis and decision-making in healthcare management.</a:t>
            </a:r>
          </a:p>
          <a:p>
            <a:pPr algn="ctr">
              <a:lnSpc>
                <a:spcPts val="4680"/>
              </a:lnSpc>
              <a:spcBef>
                <a:spcPct val="0"/>
              </a:spcBef>
            </a:pPr>
          </a:p>
          <a:p>
            <a:pPr algn="ctr">
              <a:lnSpc>
                <a:spcPts val="4289"/>
              </a:lnSpc>
              <a:spcBef>
                <a:spcPct val="0"/>
              </a:spcBef>
            </a:pPr>
          </a:p>
          <a:p>
            <a:pPr algn="ctr">
              <a:lnSpc>
                <a:spcPts val="4289"/>
              </a:lnSpc>
              <a:spcBef>
                <a:spcPct val="0"/>
              </a:spcBef>
            </a:pPr>
          </a:p>
          <a:p>
            <a:pPr algn="ctr">
              <a:lnSpc>
                <a:spcPts val="4289"/>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DAHDjSQaD0s</dc:identifier>
  <dcterms:modified xsi:type="dcterms:W3CDTF">2011-08-01T06:04:30Z</dcterms:modified>
  <cp:revision>1</cp:revision>
  <dc:title>Healthcare Patient Insights &amp; Hospital Performance Dashboard</dc:title>
</cp:coreProperties>
</file>